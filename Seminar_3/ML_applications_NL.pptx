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6"/>
  </p:notesMasterIdLst>
  <p:sldIdLst>
    <p:sldId id="256" r:id="rId2"/>
    <p:sldId id="265" r:id="rId3"/>
    <p:sldId id="257" r:id="rId4"/>
    <p:sldId id="281" r:id="rId5"/>
    <p:sldId id="283" r:id="rId6"/>
    <p:sldId id="282" r:id="rId7"/>
    <p:sldId id="284" r:id="rId8"/>
    <p:sldId id="289" r:id="rId9"/>
    <p:sldId id="285" r:id="rId10"/>
    <p:sldId id="290" r:id="rId11"/>
    <p:sldId id="291" r:id="rId12"/>
    <p:sldId id="286" r:id="rId13"/>
    <p:sldId id="292" r:id="rId14"/>
    <p:sldId id="28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FB8776"/>
    <a:srgbClr val="A9D0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95"/>
    <p:restoredTop sz="94676"/>
  </p:normalViewPr>
  <p:slideViewPr>
    <p:cSldViewPr snapToGrid="0">
      <p:cViewPr varScale="1">
        <p:scale>
          <a:sx n="115" d="100"/>
          <a:sy n="115" d="100"/>
        </p:scale>
        <p:origin x="7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74327-12B0-EB47-B1A6-DAF9D43DA0C0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510CD-FF8E-D64D-BF59-BDF8304B7A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881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4efb8e996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24efb8e996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7AA1-EAB3-BD42-B45E-B4296725D77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160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7AA1-EAB3-BD42-B45E-B4296725D77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439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7AA1-EAB3-BD42-B45E-B4296725D77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1235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7AA1-EAB3-BD42-B45E-B4296725D77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8065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7AA1-EAB3-BD42-B45E-B4296725D77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649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7AA1-EAB3-BD42-B45E-B4296725D77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512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7AA1-EAB3-BD42-B45E-B4296725D77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212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7AA1-EAB3-BD42-B45E-B4296725D77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644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7AA1-EAB3-BD42-B45E-B4296725D77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686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7AA1-EAB3-BD42-B45E-B4296725D77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648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7AA1-EAB3-BD42-B45E-B4296725D77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3021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958688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17AA1-EAB3-BD42-B45E-B4296725D77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413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adewithml.com/courses/mlops/product-design/#timelin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github.com/IrinaGoloshchapova/ml_system_design_doc_ru/tree/main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BA5010-95F3-DC2D-C8BA-F7ADE14FAC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Семинар 6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3D1795-5578-611D-CEAC-A3AD100C38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latin typeface="+mj-lt"/>
                <a:ea typeface="Montserrat"/>
                <a:cs typeface="Montserrat"/>
                <a:sym typeface="Montserrat"/>
              </a:rPr>
              <a:t>ИИ и технологии Бизнес-аналитики</a:t>
            </a:r>
          </a:p>
          <a:p>
            <a:endParaRPr lang="ru-RU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66876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/>
        </p:nvSpPr>
        <p:spPr>
          <a:xfrm>
            <a:off x="0" y="6271501"/>
            <a:ext cx="7318800" cy="861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" sz="1333" u="sng">
                <a:solidFill>
                  <a:schemeClr val="hlink"/>
                </a:solidFill>
                <a:hlinkClick r:id="rId3"/>
              </a:rPr>
              <a:t>https://madewithml.com/courses/mlops/product-design/#timeline</a:t>
            </a:r>
            <a:endParaRPr sz="1333"/>
          </a:p>
          <a:p>
            <a:r>
              <a:rPr lang="ru" sz="1333" u="sng">
                <a:solidFill>
                  <a:schemeClr val="hlink"/>
                </a:solidFill>
                <a:hlinkClick r:id="rId4"/>
              </a:rPr>
              <a:t>https://github.com/IrinaGoloshchapova/ml_system_design_doc_ru/tree/main</a:t>
            </a:r>
            <a:endParaRPr sz="1333"/>
          </a:p>
          <a:p>
            <a:endParaRPr sz="1333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2DE986-9BEA-AFFE-3BA5-E34E7E3218ED}"/>
              </a:ext>
            </a:extLst>
          </p:cNvPr>
          <p:cNvSpPr txBox="1"/>
          <p:nvPr/>
        </p:nvSpPr>
        <p:spPr>
          <a:xfrm>
            <a:off x="1060942" y="1701512"/>
            <a:ext cx="10616532" cy="4154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68850" indent="-457189">
              <a:spcBef>
                <a:spcPts val="1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2133" b="1" dirty="0">
                <a:solidFill>
                  <a:schemeClr val="dk1"/>
                </a:solidFill>
              </a:rPr>
              <a:t>Manager</a:t>
            </a:r>
            <a:r>
              <a:rPr lang="en-US" sz="2133" dirty="0">
                <a:solidFill>
                  <a:schemeClr val="dk1"/>
                </a:solidFill>
              </a:rPr>
              <a:t>: </a:t>
            </a:r>
            <a:r>
              <a:rPr lang="ru-RU" sz="2133" dirty="0">
                <a:solidFill>
                  <a:schemeClr val="dk1"/>
                </a:solidFill>
              </a:rPr>
              <a:t>Постановка бизнес-задачи</a:t>
            </a:r>
          </a:p>
          <a:p>
            <a:pPr marL="668850" indent="-457189">
              <a:spcBef>
                <a:spcPts val="1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2133" b="1" dirty="0">
                <a:solidFill>
                  <a:schemeClr val="dk1"/>
                </a:solidFill>
              </a:rPr>
              <a:t>Data Analytic</a:t>
            </a:r>
            <a:r>
              <a:rPr lang="en-US" sz="2133" dirty="0">
                <a:solidFill>
                  <a:schemeClr val="dk1"/>
                </a:solidFill>
              </a:rPr>
              <a:t>: </a:t>
            </a:r>
            <a:r>
              <a:rPr lang="ru-RU" sz="2133" dirty="0">
                <a:solidFill>
                  <a:schemeClr val="dk1"/>
                </a:solidFill>
              </a:rPr>
              <a:t>Сбор и подготовка данных</a:t>
            </a:r>
          </a:p>
          <a:p>
            <a:pPr marL="668850" indent="-457189">
              <a:spcBef>
                <a:spcPts val="1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2133" b="1" dirty="0">
                <a:solidFill>
                  <a:schemeClr val="dk1"/>
                </a:solidFill>
              </a:rPr>
              <a:t>Data Analytic: </a:t>
            </a:r>
            <a:r>
              <a:rPr lang="ru-RU" sz="2133" dirty="0">
                <a:solidFill>
                  <a:schemeClr val="dk1"/>
                </a:solidFill>
              </a:rPr>
              <a:t>Анализ данных (</a:t>
            </a:r>
            <a:r>
              <a:rPr lang="en-US" sz="2133" dirty="0">
                <a:solidFill>
                  <a:schemeClr val="dk1"/>
                </a:solidFill>
              </a:rPr>
              <a:t>EDA) – </a:t>
            </a:r>
            <a:r>
              <a:rPr lang="ru-RU" sz="2133" dirty="0">
                <a:solidFill>
                  <a:schemeClr val="dk1"/>
                </a:solidFill>
              </a:rPr>
              <a:t>разведывательный анализ</a:t>
            </a:r>
            <a:endParaRPr lang="en-US" sz="2133" dirty="0">
              <a:solidFill>
                <a:schemeClr val="dk1"/>
              </a:solidFill>
            </a:endParaRPr>
          </a:p>
          <a:p>
            <a:pPr marL="668850" indent="-457189">
              <a:spcBef>
                <a:spcPts val="1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2133" b="1" dirty="0">
                <a:solidFill>
                  <a:schemeClr val="dk1"/>
                </a:solidFill>
              </a:rPr>
              <a:t>ML Engineer: </a:t>
            </a:r>
            <a:r>
              <a:rPr lang="ru-RU" sz="2133" dirty="0">
                <a:solidFill>
                  <a:schemeClr val="dk1"/>
                </a:solidFill>
              </a:rPr>
              <a:t>Построение/обучение модели</a:t>
            </a:r>
          </a:p>
          <a:p>
            <a:pPr marL="668850" indent="-457189">
              <a:spcBef>
                <a:spcPts val="1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2133" b="1" dirty="0">
                <a:solidFill>
                  <a:schemeClr val="dk1"/>
                </a:solidFill>
              </a:rPr>
              <a:t>Data Analytic: </a:t>
            </a:r>
            <a:r>
              <a:rPr lang="ru-RU" sz="2133" dirty="0">
                <a:solidFill>
                  <a:schemeClr val="dk1"/>
                </a:solidFill>
              </a:rPr>
              <a:t>Оценка качества и интерпретация результатов</a:t>
            </a:r>
            <a:endParaRPr lang="en-US" sz="2133" dirty="0">
              <a:solidFill>
                <a:schemeClr val="dk1"/>
              </a:solidFill>
            </a:endParaRPr>
          </a:p>
          <a:p>
            <a:pPr marL="668850" indent="-457189">
              <a:spcBef>
                <a:spcPts val="1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2133" b="1" dirty="0">
                <a:solidFill>
                  <a:schemeClr val="dk1"/>
                </a:solidFill>
              </a:rPr>
              <a:t>Manager</a:t>
            </a:r>
            <a:r>
              <a:rPr lang="en-US" sz="2133" dirty="0">
                <a:solidFill>
                  <a:schemeClr val="dk1"/>
                </a:solidFill>
              </a:rPr>
              <a:t>: </a:t>
            </a:r>
            <a:r>
              <a:rPr lang="ru-RU" sz="2133" dirty="0">
                <a:solidFill>
                  <a:schemeClr val="dk1"/>
                </a:solidFill>
              </a:rPr>
              <a:t>Принятие решения о проведении теста</a:t>
            </a:r>
          </a:p>
          <a:p>
            <a:pPr marL="668850" indent="-457189">
              <a:spcBef>
                <a:spcPts val="1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2133" b="1" dirty="0">
                <a:solidFill>
                  <a:schemeClr val="dk1"/>
                </a:solidFill>
              </a:rPr>
              <a:t>Data Analytic</a:t>
            </a:r>
            <a:r>
              <a:rPr lang="ru-RU" sz="2133" b="1" dirty="0">
                <a:solidFill>
                  <a:schemeClr val="dk1"/>
                </a:solidFill>
              </a:rPr>
              <a:t> + </a:t>
            </a:r>
            <a:r>
              <a:rPr lang="en-US" sz="2133" b="1" dirty="0">
                <a:solidFill>
                  <a:schemeClr val="dk1"/>
                </a:solidFill>
              </a:rPr>
              <a:t>Manager: </a:t>
            </a:r>
            <a:r>
              <a:rPr lang="ru-RU" sz="2133" dirty="0">
                <a:solidFill>
                  <a:schemeClr val="dk1"/>
                </a:solidFill>
              </a:rPr>
              <a:t>А/Б тестирование на куске бизнеса</a:t>
            </a:r>
          </a:p>
          <a:p>
            <a:pPr marL="668850" indent="-457189">
              <a:spcBef>
                <a:spcPts val="16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2133" b="1" dirty="0">
                <a:solidFill>
                  <a:schemeClr val="dk1"/>
                </a:solidFill>
              </a:rPr>
              <a:t>Manager + </a:t>
            </a:r>
            <a:r>
              <a:rPr lang="ru-RU" sz="2133" b="1" dirty="0">
                <a:solidFill>
                  <a:schemeClr val="dk1"/>
                </a:solidFill>
              </a:rPr>
              <a:t>Бизнес:</a:t>
            </a:r>
            <a:r>
              <a:rPr lang="en-US" sz="2133" b="1" dirty="0">
                <a:solidFill>
                  <a:schemeClr val="dk1"/>
                </a:solidFill>
              </a:rPr>
              <a:t> </a:t>
            </a:r>
            <a:r>
              <a:rPr lang="ru-RU" sz="2133" dirty="0">
                <a:solidFill>
                  <a:schemeClr val="dk1"/>
                </a:solidFill>
              </a:rPr>
              <a:t>Внедрение в бизнес-процесс</a:t>
            </a:r>
            <a:endParaRPr lang="ru-RU" sz="2667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A6BC52-BAC1-970E-2B9C-B57E2BE25A13}"/>
              </a:ext>
            </a:extLst>
          </p:cNvPr>
          <p:cNvSpPr txBox="1"/>
          <p:nvPr/>
        </p:nvSpPr>
        <p:spPr>
          <a:xfrm>
            <a:off x="423380" y="447414"/>
            <a:ext cx="10157933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733" b="1" dirty="0"/>
              <a:t>Цикл проекта в сфере </a:t>
            </a:r>
            <a:r>
              <a:rPr lang="en-US" sz="3733" b="1" dirty="0"/>
              <a:t>Data Science</a:t>
            </a:r>
            <a:endParaRPr lang="en-AE" sz="3733" b="1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17B468F-5F2E-2A6C-26DB-B60F068B28E9}"/>
              </a:ext>
            </a:extLst>
          </p:cNvPr>
          <p:cNvSpPr/>
          <p:nvPr/>
        </p:nvSpPr>
        <p:spPr>
          <a:xfrm>
            <a:off x="615192" y="1701512"/>
            <a:ext cx="445749" cy="4185761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C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6BC561-371A-FA67-1509-7EA4611F8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Что сегодня будем делать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648A60-78CA-61EC-4996-A43C14511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u-RU" sz="2400" dirty="0"/>
              <a:t>Потрогаем руками весь путь разработки модели</a:t>
            </a:r>
          </a:p>
          <a:p>
            <a:pPr>
              <a:buFontTx/>
              <a:buChar char="-"/>
            </a:pPr>
            <a:r>
              <a:rPr lang="ru-RU" sz="2400" dirty="0"/>
              <a:t>Узнаем, на что непосредственно заказчикам модели стоит смотреть при её приемке</a:t>
            </a:r>
          </a:p>
          <a:p>
            <a:pPr>
              <a:buFontTx/>
              <a:buChar char="-"/>
            </a:pPr>
            <a:r>
              <a:rPr lang="ru-RU" sz="2400" dirty="0"/>
              <a:t>С какими проблемами можно столкнуться при выводе модели в продакшн</a:t>
            </a:r>
          </a:p>
          <a:p>
            <a:pPr>
              <a:buFontTx/>
              <a:buChar char="-"/>
            </a:pPr>
            <a:r>
              <a:rPr lang="ru-RU" sz="2400" dirty="0"/>
              <a:t>Общие кейсы применения </a:t>
            </a:r>
            <a:r>
              <a:rPr lang="en-US" sz="2400" dirty="0"/>
              <a:t>ML-</a:t>
            </a:r>
            <a:r>
              <a:rPr lang="ru-RU" sz="2400" dirty="0"/>
              <a:t>моделей</a:t>
            </a:r>
          </a:p>
        </p:txBody>
      </p:sp>
    </p:spTree>
    <p:extLst>
      <p:ext uri="{BB962C8B-B14F-4D97-AF65-F5344CB8AC3E}">
        <p14:creationId xmlns:p14="http://schemas.microsoft.com/office/powerpoint/2010/main" val="81292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B36BE-15AB-14EB-BB6C-AF77B9F6A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35C8B5-3934-3D01-BF71-19E101483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123" y="167698"/>
            <a:ext cx="10515600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prstClr val="black"/>
                </a:solidFill>
                <a:latin typeface="Arial" panose="020B0604020202020204"/>
              </a:rPr>
              <a:t>Метрика хороша, но есть нюанс…</a:t>
            </a:r>
            <a:endParaRPr lang="ru-RU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CDB96B-C413-81AB-4078-7785A4AAC1E3}"/>
              </a:ext>
            </a:extLst>
          </p:cNvPr>
          <p:cNvSpPr txBox="1"/>
          <p:nvPr/>
        </p:nvSpPr>
        <p:spPr>
          <a:xfrm>
            <a:off x="1002188" y="2390421"/>
            <a:ext cx="10358535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Почему </a:t>
            </a:r>
            <a:r>
              <a:rPr lang="en-US" dirty="0"/>
              <a:t>ML-</a:t>
            </a:r>
            <a:r>
              <a:rPr lang="ru-RU" dirty="0"/>
              <a:t>метрика может быть большой хотя фактически модель плохая:</a:t>
            </a:r>
          </a:p>
          <a:p>
            <a:endParaRPr lang="ru-RU" dirty="0"/>
          </a:p>
          <a:p>
            <a:pPr marL="285750" indent="-285750">
              <a:buFont typeface="Wingdings" pitchFamily="2" charset="2"/>
              <a:buChar char="Ø"/>
            </a:pPr>
            <a:r>
              <a:rPr lang="ru-RU" b="1" dirty="0"/>
              <a:t>Переобучение</a:t>
            </a:r>
          </a:p>
          <a:p>
            <a:pPr lvl="1"/>
            <a:r>
              <a:rPr lang="ru-RU" sz="1400" dirty="0"/>
              <a:t>На тестовой выборке хорошие результаты, а на тренировочной еще сильно лучше –</a:t>
            </a:r>
            <a:r>
              <a:rPr lang="en-US" sz="1400" dirty="0"/>
              <a:t>&gt; </a:t>
            </a:r>
            <a:r>
              <a:rPr lang="ru-RU" sz="1400" dirty="0"/>
              <a:t>скорее всего модель будет нестабильной</a:t>
            </a:r>
          </a:p>
          <a:p>
            <a:pPr lvl="1"/>
            <a:endParaRPr lang="ru-RU" dirty="0"/>
          </a:p>
          <a:p>
            <a:pPr marL="285750" indent="-285750">
              <a:buFont typeface="Wingdings" pitchFamily="2" charset="2"/>
              <a:buChar char="Ø"/>
            </a:pPr>
            <a:r>
              <a:rPr lang="ru-RU" b="1" dirty="0"/>
              <a:t>Некорректное разбиение</a:t>
            </a:r>
            <a:r>
              <a:rPr lang="ru-RU" dirty="0"/>
              <a:t> на тренировочную и тестовую выборки</a:t>
            </a:r>
          </a:p>
          <a:p>
            <a:pPr lvl="1"/>
            <a:r>
              <a:rPr lang="ru-RU" sz="1400" dirty="0"/>
              <a:t>В качестве тестовой выборки использовался аномальный период, который не отражает естественную среду работы модели –</a:t>
            </a:r>
            <a:r>
              <a:rPr lang="en-US" sz="1400" dirty="0"/>
              <a:t>&gt;</a:t>
            </a:r>
            <a:r>
              <a:rPr lang="ru-RU" sz="1400" dirty="0"/>
              <a:t> модель не будет хорошо работать</a:t>
            </a:r>
          </a:p>
          <a:p>
            <a:pPr lvl="1"/>
            <a:endParaRPr lang="ru-RU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/>
              <a:t>”</a:t>
            </a:r>
            <a:r>
              <a:rPr lang="ru-RU" b="1" dirty="0"/>
              <a:t>Лик</a:t>
            </a:r>
            <a:r>
              <a:rPr lang="en-US" b="1" dirty="0"/>
              <a:t>”</a:t>
            </a:r>
            <a:r>
              <a:rPr lang="ru-RU" dirty="0"/>
              <a:t> в данных</a:t>
            </a:r>
          </a:p>
          <a:p>
            <a:pPr lvl="1"/>
            <a:r>
              <a:rPr lang="ru-RU" sz="1400" dirty="0"/>
              <a:t>Модель обучается с учетом информации о целевой переменной в признаках</a:t>
            </a:r>
          </a:p>
          <a:p>
            <a:pPr lvl="1"/>
            <a:r>
              <a:rPr lang="ru-RU" sz="1400" dirty="0"/>
              <a:t>–</a:t>
            </a:r>
            <a:r>
              <a:rPr lang="en-US" sz="1400" dirty="0"/>
              <a:t>&gt;</a:t>
            </a:r>
            <a:r>
              <a:rPr lang="ru-RU" sz="1400" dirty="0"/>
              <a:t> модель не будет хорошо работать</a:t>
            </a:r>
          </a:p>
          <a:p>
            <a:pPr lvl="1"/>
            <a:r>
              <a:rPr lang="ru-RU" sz="1400" dirty="0"/>
              <a:t>Пример: при прогнозе оттока на следующий месяц одним из факторов брался флаг закрытого договора за последний месяц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354ABE-25C5-53F0-88EB-DC0102E9058A}"/>
              </a:ext>
            </a:extLst>
          </p:cNvPr>
          <p:cNvSpPr txBox="1"/>
          <p:nvPr/>
        </p:nvSpPr>
        <p:spPr>
          <a:xfrm>
            <a:off x="998734" y="1478735"/>
            <a:ext cx="9901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Предполагается, что на этапе постановки задачи разработчикам мы уже зафиксировали, какие </a:t>
            </a:r>
            <a:r>
              <a:rPr lang="en-US" i="1" dirty="0"/>
              <a:t>ML-</a:t>
            </a:r>
            <a:r>
              <a:rPr lang="ru-RU" i="1" dirty="0"/>
              <a:t>метрики являются правильными для решения бизнес-задачи</a:t>
            </a:r>
          </a:p>
        </p:txBody>
      </p:sp>
    </p:spTree>
    <p:extLst>
      <p:ext uri="{BB962C8B-B14F-4D97-AF65-F5344CB8AC3E}">
        <p14:creationId xmlns:p14="http://schemas.microsoft.com/office/powerpoint/2010/main" val="2803061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53E98-8418-DD9F-6AA8-7D226AAAE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C6B173-AFCE-1260-04F2-F1F2D8FC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123" y="167698"/>
            <a:ext cx="10515600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prstClr val="black"/>
                </a:solidFill>
                <a:latin typeface="Arial" panose="020B0604020202020204"/>
              </a:rPr>
              <a:t>Метрика хороша, но есть нюанс…</a:t>
            </a:r>
            <a:endParaRPr lang="ru-RU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93165-394F-1990-D960-4F30D443985F}"/>
              </a:ext>
            </a:extLst>
          </p:cNvPr>
          <p:cNvSpPr txBox="1"/>
          <p:nvPr/>
        </p:nvSpPr>
        <p:spPr>
          <a:xfrm>
            <a:off x="998734" y="1478735"/>
            <a:ext cx="9901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Предполагается, что на этапе постановки задачи разработчикам мы уже зафиксировали, какие </a:t>
            </a:r>
            <a:r>
              <a:rPr lang="en-US" i="1" dirty="0"/>
              <a:t>ML-</a:t>
            </a:r>
            <a:r>
              <a:rPr lang="ru-RU" i="1" dirty="0"/>
              <a:t>метрики являются правильными для решения бизнес-задачи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F5581166-3CD9-7CD7-4710-AFF775034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692772"/>
              </p:ext>
            </p:extLst>
          </p:nvPr>
        </p:nvGraphicFramePr>
        <p:xfrm>
          <a:off x="1885399" y="2600505"/>
          <a:ext cx="8128000" cy="2778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7939525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588141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Кто виноват?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Что делать?</a:t>
                      </a:r>
                    </a:p>
                  </a:txBody>
                  <a:tcPr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189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Переобучение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Использовать другие подходы к построению модели и проверять «разлет» метрик на тренировочной и тестовой выборке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169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Некорректное разбиение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Уточнять особенности разбиения данных на тренировочную и тестовую. Возможно подкорректировать разбиения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262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Лик в данных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Тщательно отнестись к оценке признаков, которые попали в модель. Добавить важные по бизнес-смыслу или сделать логические фильтры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444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7961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F16B3-B23D-EEFE-CE6A-1BA22471F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5C45B9-B4E2-33CF-8FFC-703767735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Модельные риски</a:t>
            </a:r>
            <a:endParaRPr lang="ru-RU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B8E8CA-F34A-CC30-51A3-AA5B24C7A82B}"/>
              </a:ext>
            </a:extLst>
          </p:cNvPr>
          <p:cNvSpPr txBox="1"/>
          <p:nvPr/>
        </p:nvSpPr>
        <p:spPr>
          <a:xfrm>
            <a:off x="883227" y="1695896"/>
            <a:ext cx="10515601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Применяем не на том</a:t>
            </a:r>
            <a:r>
              <a:rPr lang="ru-RU" dirty="0"/>
              <a:t>, на чем обучались</a:t>
            </a:r>
          </a:p>
          <a:p>
            <a:endParaRPr lang="ru-RU" dirty="0"/>
          </a:p>
          <a:p>
            <a:r>
              <a:rPr lang="ru-RU" sz="1400" dirty="0"/>
              <a:t>Смещение в данных. Естественные отличия = можно ожидать других результатов модели</a:t>
            </a:r>
          </a:p>
          <a:p>
            <a:r>
              <a:rPr lang="ru-RU" sz="1400" dirty="0"/>
              <a:t>	Пример:</a:t>
            </a:r>
          </a:p>
          <a:p>
            <a:r>
              <a:rPr lang="ru-RU" sz="1400" dirty="0"/>
              <a:t>	Рекламную кампанию проводили на конкретных клиентах (возможно они отбирались уже с 	определенными фильтрами) -</a:t>
            </a:r>
            <a:r>
              <a:rPr lang="en-US" sz="1400" dirty="0"/>
              <a:t>&gt; </a:t>
            </a:r>
            <a:r>
              <a:rPr lang="ru-RU" sz="1400" dirty="0"/>
              <a:t>обучили на этом модель -</a:t>
            </a:r>
            <a:r>
              <a:rPr lang="en-US" sz="1400" dirty="0"/>
              <a:t>&gt; </a:t>
            </a:r>
            <a:r>
              <a:rPr lang="ru-RU" sz="1400" dirty="0"/>
              <a:t>применяем на всех клиентов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”Drift” </a:t>
            </a:r>
            <a:r>
              <a:rPr lang="ru-RU" b="1" dirty="0"/>
              <a:t>данных</a:t>
            </a:r>
          </a:p>
          <a:p>
            <a:endParaRPr lang="ru-RU" b="1" dirty="0"/>
          </a:p>
          <a:p>
            <a:r>
              <a:rPr lang="ru-RU" sz="1400" dirty="0"/>
              <a:t>Изменение распределения данных, на которых работает модель</a:t>
            </a:r>
          </a:p>
          <a:p>
            <a:r>
              <a:rPr lang="ru-RU" sz="1400" dirty="0"/>
              <a:t>	Пример:</a:t>
            </a:r>
          </a:p>
          <a:p>
            <a:r>
              <a:rPr lang="ru-RU" sz="1400" dirty="0"/>
              <a:t>	Ключевая ставка растет -</a:t>
            </a:r>
            <a:r>
              <a:rPr lang="en-US" sz="1400" dirty="0"/>
              <a:t>&gt; </a:t>
            </a:r>
            <a:r>
              <a:rPr lang="ru-RU" sz="1400" dirty="0"/>
              <a:t>среда меняется -</a:t>
            </a:r>
            <a:r>
              <a:rPr lang="en-US" sz="1400" dirty="0"/>
              <a:t>&gt; </a:t>
            </a:r>
            <a:r>
              <a:rPr lang="ru-RU" sz="1400" dirty="0"/>
              <a:t>в новых условиях модель может затухнуть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“Concept</a:t>
            </a:r>
            <a:r>
              <a:rPr lang="ru-RU" b="1" dirty="0"/>
              <a:t> </a:t>
            </a:r>
            <a:r>
              <a:rPr lang="en-US" b="1" dirty="0"/>
              <a:t>Shift”</a:t>
            </a:r>
          </a:p>
          <a:p>
            <a:r>
              <a:rPr lang="ru-RU" sz="1400" dirty="0"/>
              <a:t>Закономерности, которые выявила и использовала модель, устаревают</a:t>
            </a:r>
          </a:p>
          <a:p>
            <a:r>
              <a:rPr lang="ru-RU" sz="1400" dirty="0"/>
              <a:t>	Пример:</a:t>
            </a:r>
          </a:p>
          <a:p>
            <a:r>
              <a:rPr lang="ru-RU" sz="1400" dirty="0"/>
              <a:t>	Распределение признаков остается тем же, но поведение пользователей меняется</a:t>
            </a:r>
          </a:p>
        </p:txBody>
      </p:sp>
    </p:spTree>
    <p:extLst>
      <p:ext uri="{BB962C8B-B14F-4D97-AF65-F5344CB8AC3E}">
        <p14:creationId xmlns:p14="http://schemas.microsoft.com/office/powerpoint/2010/main" val="1569686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54395-6102-F60B-8FB6-4FBD69AAE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0D8764B-F070-0825-FEB3-8158E5160DCC}"/>
              </a:ext>
            </a:extLst>
          </p:cNvPr>
          <p:cNvSpPr/>
          <p:nvPr/>
        </p:nvSpPr>
        <p:spPr>
          <a:xfrm>
            <a:off x="4558709" y="3545984"/>
            <a:ext cx="3074582" cy="2923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E3FA55-EFA3-BD34-1C8C-26BDF2E1B01C}"/>
              </a:ext>
            </a:extLst>
          </p:cNvPr>
          <p:cNvSpPr/>
          <p:nvPr/>
        </p:nvSpPr>
        <p:spPr>
          <a:xfrm>
            <a:off x="838199" y="3519728"/>
            <a:ext cx="3074582" cy="2923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0C3E2A-1DC6-EFCD-ECCD-D45FF7F9A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Применение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ML: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Прогнозирование (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Forecasting)</a:t>
            </a:r>
            <a:endParaRPr lang="ru-RU" sz="3600" b="1" dirty="0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91BA6338-FA3C-B9A2-1B14-768CD981237E}"/>
              </a:ext>
            </a:extLst>
          </p:cNvPr>
          <p:cNvSpPr/>
          <p:nvPr/>
        </p:nvSpPr>
        <p:spPr>
          <a:xfrm>
            <a:off x="838199" y="1597169"/>
            <a:ext cx="10515600" cy="841664"/>
          </a:xfrm>
          <a:prstGeom prst="roundRect">
            <a:avLst/>
          </a:prstGeom>
          <a:solidFill>
            <a:srgbClr val="15608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Задача: дать бизнесу информацию о наиболее вероятном состоянии будущего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C15A7A6-7602-2C42-9F9A-8A3DFB516271}"/>
              </a:ext>
            </a:extLst>
          </p:cNvPr>
          <p:cNvSpPr/>
          <p:nvPr/>
        </p:nvSpPr>
        <p:spPr>
          <a:xfrm>
            <a:off x="838199" y="2678065"/>
            <a:ext cx="3074582" cy="854844"/>
          </a:xfrm>
          <a:prstGeom prst="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Ритейл: </a:t>
            </a:r>
            <a:br>
              <a:rPr lang="ru-RU" b="1" dirty="0"/>
            </a:br>
            <a:r>
              <a:rPr lang="ru-RU" dirty="0"/>
              <a:t>Сколько товара купят?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5BD009-55BA-B3C2-F467-60E0948F54D7}"/>
              </a:ext>
            </a:extLst>
          </p:cNvPr>
          <p:cNvSpPr txBox="1"/>
          <p:nvPr/>
        </p:nvSpPr>
        <p:spPr>
          <a:xfrm>
            <a:off x="838198" y="3539446"/>
            <a:ext cx="307458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Пример:</a:t>
            </a:r>
            <a:br>
              <a:rPr lang="ru-RU" sz="1400" dirty="0"/>
            </a:br>
            <a:r>
              <a:rPr lang="ru-RU" sz="1400" dirty="0"/>
              <a:t>Прогноз продаж по магазинам по товарам</a:t>
            </a:r>
          </a:p>
          <a:p>
            <a:endParaRPr lang="en-US" sz="1400" dirty="0"/>
          </a:p>
          <a:p>
            <a:r>
              <a:rPr lang="ru-RU" sz="1400" b="1" dirty="0"/>
              <a:t>Риск неверных решений:</a:t>
            </a:r>
          </a:p>
          <a:p>
            <a:r>
              <a:rPr lang="ru-RU" sz="1400" dirty="0"/>
              <a:t>Списания, </a:t>
            </a:r>
            <a:r>
              <a:rPr lang="ru-RU" sz="1400" dirty="0" err="1"/>
              <a:t>недопродажи</a:t>
            </a:r>
            <a:r>
              <a:rPr lang="ru-RU" sz="1400" dirty="0"/>
              <a:t> из-за нехватки товара, повышенные товарные запасы</a:t>
            </a:r>
          </a:p>
          <a:p>
            <a:endParaRPr lang="ru-RU" sz="1400" dirty="0"/>
          </a:p>
          <a:p>
            <a:r>
              <a:rPr lang="ru-RU" sz="1400" b="1" dirty="0"/>
              <a:t>Бизнес метрики:</a:t>
            </a:r>
          </a:p>
          <a:p>
            <a:r>
              <a:rPr lang="ru-RU" sz="1400" dirty="0"/>
              <a:t>Списания в руб., продажи (РТО), маржинальность, товарный запас в руб.</a:t>
            </a:r>
          </a:p>
        </p:txBody>
      </p:sp>
      <p:sp>
        <p:nvSpPr>
          <p:cNvPr id="15" name="Прямоугольник 4">
            <a:extLst>
              <a:ext uri="{FF2B5EF4-FFF2-40B4-BE49-F238E27FC236}">
                <a16:creationId xmlns:a16="http://schemas.microsoft.com/office/drawing/2014/main" id="{0EE3AC53-3A0B-01E7-6778-B88D81F26CAA}"/>
              </a:ext>
            </a:extLst>
          </p:cNvPr>
          <p:cNvSpPr/>
          <p:nvPr/>
        </p:nvSpPr>
        <p:spPr>
          <a:xfrm>
            <a:off x="4558709" y="2684603"/>
            <a:ext cx="3074582" cy="854844"/>
          </a:xfrm>
          <a:prstGeom prst="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Телемаркетинг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/>
              <a:t>Какой выставить план?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DA5643-B1E5-8907-9EAF-81E27AAEC575}"/>
              </a:ext>
            </a:extLst>
          </p:cNvPr>
          <p:cNvSpPr txBox="1"/>
          <p:nvPr/>
        </p:nvSpPr>
        <p:spPr>
          <a:xfrm>
            <a:off x="4558710" y="3545984"/>
            <a:ext cx="307458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Пример:</a:t>
            </a:r>
            <a:br>
              <a:rPr lang="ru-RU" sz="1400" dirty="0"/>
            </a:br>
            <a:r>
              <a:rPr lang="ru-RU" sz="1400" dirty="0"/>
              <a:t>Прогноз продаж в колл-центре телеоператора</a:t>
            </a:r>
          </a:p>
          <a:p>
            <a:endParaRPr lang="en-US" sz="1400" dirty="0"/>
          </a:p>
          <a:p>
            <a:r>
              <a:rPr lang="ru-RU" sz="1400" b="1" dirty="0"/>
              <a:t>Риск неверных решений:</a:t>
            </a:r>
          </a:p>
          <a:p>
            <a:r>
              <a:rPr lang="ru-RU" sz="1400" dirty="0"/>
              <a:t>Недопродажи из-за низко выставленных планов, низкая мотивация персонала из-за нереалистичных планов</a:t>
            </a:r>
          </a:p>
          <a:p>
            <a:endParaRPr lang="ru-RU" sz="1400" dirty="0"/>
          </a:p>
          <a:p>
            <a:r>
              <a:rPr lang="ru-RU" sz="1400" b="1" dirty="0"/>
              <a:t>Бизнес метрики:</a:t>
            </a:r>
          </a:p>
          <a:p>
            <a:r>
              <a:rPr lang="ru-RU" sz="1400" dirty="0"/>
              <a:t>Выручка, текучка операторов </a:t>
            </a:r>
            <a:br>
              <a:rPr lang="ru-RU" sz="1400" dirty="0"/>
            </a:br>
            <a:r>
              <a:rPr lang="ru-RU" sz="1400" dirty="0"/>
              <a:t>(% текучки на позицию)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CB1166-A67F-085C-930A-2CE63082A686}"/>
              </a:ext>
            </a:extLst>
          </p:cNvPr>
          <p:cNvSpPr/>
          <p:nvPr/>
        </p:nvSpPr>
        <p:spPr>
          <a:xfrm>
            <a:off x="8279219" y="3532908"/>
            <a:ext cx="3074582" cy="2923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4" name="Прямоугольник 4">
            <a:extLst>
              <a:ext uri="{FF2B5EF4-FFF2-40B4-BE49-F238E27FC236}">
                <a16:creationId xmlns:a16="http://schemas.microsoft.com/office/drawing/2014/main" id="{DE149D08-556B-F9F3-C784-4471894C7384}"/>
              </a:ext>
            </a:extLst>
          </p:cNvPr>
          <p:cNvSpPr/>
          <p:nvPr/>
        </p:nvSpPr>
        <p:spPr>
          <a:xfrm>
            <a:off x="8279219" y="2671527"/>
            <a:ext cx="3074582" cy="854844"/>
          </a:xfrm>
          <a:prstGeom prst="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Логистика отдел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/>
              <a:t>Когда придет поставка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CDBEB1-4003-868C-0369-DB7469578F52}"/>
              </a:ext>
            </a:extLst>
          </p:cNvPr>
          <p:cNvSpPr txBox="1"/>
          <p:nvPr/>
        </p:nvSpPr>
        <p:spPr>
          <a:xfrm>
            <a:off x="8279220" y="3532908"/>
            <a:ext cx="307458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Пример:</a:t>
            </a:r>
            <a:br>
              <a:rPr lang="ru-RU" sz="1400" dirty="0"/>
            </a:br>
            <a:r>
              <a:rPr lang="ru-RU" sz="1400" dirty="0"/>
              <a:t>Прогнозирование времени прибытия судна в порт</a:t>
            </a:r>
          </a:p>
          <a:p>
            <a:endParaRPr lang="en-US" sz="1400" dirty="0"/>
          </a:p>
          <a:p>
            <a:r>
              <a:rPr lang="ru-RU" sz="1400" b="1" dirty="0"/>
              <a:t>Риск неверных решений:</a:t>
            </a:r>
          </a:p>
          <a:p>
            <a:r>
              <a:rPr lang="ru-RU" sz="1400" dirty="0"/>
              <a:t>Выбивание из графика и нарушений условий контрактов</a:t>
            </a:r>
          </a:p>
          <a:p>
            <a:endParaRPr lang="ru-RU" sz="1400" dirty="0"/>
          </a:p>
          <a:p>
            <a:r>
              <a:rPr lang="ru-RU" sz="1400" b="1" dirty="0"/>
              <a:t>Бизнес метрики:</a:t>
            </a:r>
          </a:p>
          <a:p>
            <a:r>
              <a:rPr lang="ru-RU" sz="1400" dirty="0"/>
              <a:t>% отклонений от расписания, издержки на неустойки</a:t>
            </a:r>
          </a:p>
        </p:txBody>
      </p:sp>
    </p:spTree>
    <p:extLst>
      <p:ext uri="{BB962C8B-B14F-4D97-AF65-F5344CB8AC3E}">
        <p14:creationId xmlns:p14="http://schemas.microsoft.com/office/powerpoint/2010/main" val="557552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2A40-8AC0-8BE0-0448-D87844DC5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2FF828-0F77-DA6B-9044-EA42D3BC4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656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Задача</a:t>
            </a:r>
            <a:endParaRPr lang="ru-RU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31AB93-1479-5D73-A890-AC6BF3CC5538}"/>
              </a:ext>
            </a:extLst>
          </p:cNvPr>
          <p:cNvSpPr txBox="1"/>
          <p:nvPr/>
        </p:nvSpPr>
        <p:spPr>
          <a:xfrm>
            <a:off x="883227" y="3182129"/>
            <a:ext cx="10515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Сколько товара нужно привезти на торговую точку?</a:t>
            </a:r>
          </a:p>
        </p:txBody>
      </p:sp>
    </p:spTree>
    <p:extLst>
      <p:ext uri="{BB962C8B-B14F-4D97-AF65-F5344CB8AC3E}">
        <p14:creationId xmlns:p14="http://schemas.microsoft.com/office/powerpoint/2010/main" val="1551155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91104-ED60-30D7-7513-B2FB97E00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F4CA27-F79E-554F-541C-C98CC05B3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Применение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ML: </a:t>
            </a:r>
            <a:r>
              <a:rPr kumimoji="0" lang="e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What-if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сценарии</a:t>
            </a:r>
            <a:endParaRPr lang="ru-RU" sz="3600" b="1" dirty="0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EB75DA9C-3BE6-0269-2DB0-7A69B885C288}"/>
              </a:ext>
            </a:extLst>
          </p:cNvPr>
          <p:cNvSpPr/>
          <p:nvPr/>
        </p:nvSpPr>
        <p:spPr>
          <a:xfrm>
            <a:off x="838199" y="1597169"/>
            <a:ext cx="10515600" cy="841664"/>
          </a:xfrm>
          <a:prstGeom prst="roundRect">
            <a:avLst/>
          </a:prstGeom>
          <a:solidFill>
            <a:srgbClr val="15608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Задача: определить последствия от наших действий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468183-A266-B9D5-3D74-99635B893AC3}"/>
              </a:ext>
            </a:extLst>
          </p:cNvPr>
          <p:cNvSpPr/>
          <p:nvPr/>
        </p:nvSpPr>
        <p:spPr>
          <a:xfrm>
            <a:off x="4558709" y="3545984"/>
            <a:ext cx="3074582" cy="2923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8B8FAE-0560-7EEA-ED16-D5A6C1CBDEF0}"/>
              </a:ext>
            </a:extLst>
          </p:cNvPr>
          <p:cNvSpPr/>
          <p:nvPr/>
        </p:nvSpPr>
        <p:spPr>
          <a:xfrm>
            <a:off x="838199" y="3519728"/>
            <a:ext cx="3074582" cy="2923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1" name="Прямоугольник 4">
            <a:extLst>
              <a:ext uri="{FF2B5EF4-FFF2-40B4-BE49-F238E27FC236}">
                <a16:creationId xmlns:a16="http://schemas.microsoft.com/office/drawing/2014/main" id="{811A553F-E3A2-ABCC-0F07-1267EA014E5F}"/>
              </a:ext>
            </a:extLst>
          </p:cNvPr>
          <p:cNvSpPr/>
          <p:nvPr/>
        </p:nvSpPr>
        <p:spPr>
          <a:xfrm>
            <a:off x="838199" y="2678065"/>
            <a:ext cx="3074582" cy="854844"/>
          </a:xfrm>
          <a:prstGeom prst="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 err="1"/>
              <a:t>Сервисирование</a:t>
            </a:r>
            <a:r>
              <a:rPr lang="ru-RU" sz="1600" b="1" dirty="0"/>
              <a:t> в </a:t>
            </a:r>
            <a:r>
              <a:rPr lang="en-US" sz="1600" b="1" dirty="0"/>
              <a:t>B2B</a:t>
            </a:r>
            <a:r>
              <a:rPr lang="ru-RU" sz="1600" b="1" dirty="0"/>
              <a:t>: </a:t>
            </a:r>
            <a:br>
              <a:rPr lang="ru-RU" sz="1600" b="1" dirty="0"/>
            </a:br>
            <a:r>
              <a:rPr lang="ru-RU" sz="1600" dirty="0"/>
              <a:t>Кому выдать персонального менеджера?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4A161D-8FC2-FF68-8958-982446BC24CA}"/>
              </a:ext>
            </a:extLst>
          </p:cNvPr>
          <p:cNvSpPr txBox="1"/>
          <p:nvPr/>
        </p:nvSpPr>
        <p:spPr>
          <a:xfrm>
            <a:off x="838198" y="3539446"/>
            <a:ext cx="307458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Пример:</a:t>
            </a:r>
            <a:br>
              <a:rPr lang="ru-RU" sz="1400" dirty="0"/>
            </a:br>
            <a:r>
              <a:rPr lang="en-US" sz="1400" dirty="0"/>
              <a:t>Uplift </a:t>
            </a:r>
            <a:r>
              <a:rPr lang="ru-RU" sz="1400" dirty="0"/>
              <a:t>моделирование: доходность от клиента с / без персонального менеджера</a:t>
            </a:r>
          </a:p>
          <a:p>
            <a:endParaRPr lang="en-US" sz="1400" dirty="0"/>
          </a:p>
          <a:p>
            <a:r>
              <a:rPr lang="ru-RU" sz="1400" b="1" dirty="0"/>
              <a:t>Риск неверных решений:</a:t>
            </a:r>
          </a:p>
          <a:p>
            <a:r>
              <a:rPr lang="ru-RU" sz="1400" dirty="0"/>
              <a:t>Избыточные затраты на обслуживание клиентов, упущенная выгода от потенциальных клиентов</a:t>
            </a:r>
          </a:p>
          <a:p>
            <a:endParaRPr lang="ru-RU" sz="1400" dirty="0"/>
          </a:p>
          <a:p>
            <a:r>
              <a:rPr lang="ru-RU" sz="1400" b="1" dirty="0"/>
              <a:t>Бизнес метрики:</a:t>
            </a:r>
          </a:p>
          <a:p>
            <a:r>
              <a:rPr lang="ru-RU" sz="1400" dirty="0"/>
              <a:t>Затраты на персонал, выручка</a:t>
            </a:r>
          </a:p>
        </p:txBody>
      </p:sp>
      <p:sp>
        <p:nvSpPr>
          <p:cNvPr id="14" name="Прямоугольник 4">
            <a:extLst>
              <a:ext uri="{FF2B5EF4-FFF2-40B4-BE49-F238E27FC236}">
                <a16:creationId xmlns:a16="http://schemas.microsoft.com/office/drawing/2014/main" id="{4018D6A3-DC9E-2B0A-6C86-99D3CFAA05C3}"/>
              </a:ext>
            </a:extLst>
          </p:cNvPr>
          <p:cNvSpPr/>
          <p:nvPr/>
        </p:nvSpPr>
        <p:spPr>
          <a:xfrm>
            <a:off x="4558709" y="2684603"/>
            <a:ext cx="3074582" cy="854844"/>
          </a:xfrm>
          <a:prstGeom prst="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FMCG</a:t>
            </a:r>
            <a:r>
              <a:rPr lang="ru-RU" sz="1600" dirty="0"/>
              <a:t>:</a:t>
            </a:r>
            <a:br>
              <a:rPr lang="ru-RU" sz="1600" dirty="0"/>
            </a:br>
            <a:r>
              <a:rPr lang="ru-RU" sz="1600" dirty="0"/>
              <a:t>Какие будут продажи если дать промо?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BA04E1-1674-0A7C-0DA7-B754DBCED3BE}"/>
              </a:ext>
            </a:extLst>
          </p:cNvPr>
          <p:cNvSpPr txBox="1"/>
          <p:nvPr/>
        </p:nvSpPr>
        <p:spPr>
          <a:xfrm>
            <a:off x="4558710" y="3545984"/>
            <a:ext cx="307458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Пример:</a:t>
            </a:r>
            <a:br>
              <a:rPr lang="ru-RU" sz="1400" dirty="0"/>
            </a:br>
            <a:r>
              <a:rPr lang="ru-RU" sz="1400" dirty="0"/>
              <a:t>Оценить влияние от промо акции на </a:t>
            </a:r>
            <a:r>
              <a:rPr lang="en-US" sz="1400" dirty="0"/>
              <a:t>P&amp;L </a:t>
            </a:r>
            <a:r>
              <a:rPr lang="ru-RU" sz="1400" dirty="0" err="1"/>
              <a:t>комании</a:t>
            </a:r>
            <a:endParaRPr lang="ru-RU" sz="1400" dirty="0"/>
          </a:p>
          <a:p>
            <a:endParaRPr lang="en-US" sz="1400" dirty="0"/>
          </a:p>
          <a:p>
            <a:r>
              <a:rPr lang="ru-RU" sz="1400" b="1" dirty="0"/>
              <a:t>Риск неверных решений:</a:t>
            </a:r>
          </a:p>
          <a:p>
            <a:r>
              <a:rPr lang="ru-RU" sz="1400" dirty="0"/>
              <a:t>Проседание в маржинальности из-за неправильной оценки эффекта от скидки</a:t>
            </a:r>
          </a:p>
          <a:p>
            <a:endParaRPr lang="ru-RU" sz="1400" dirty="0"/>
          </a:p>
          <a:p>
            <a:r>
              <a:rPr lang="ru-RU" sz="1400" b="1" dirty="0"/>
              <a:t>Бизнес метрики:</a:t>
            </a:r>
          </a:p>
          <a:p>
            <a:r>
              <a:rPr lang="ru-RU" sz="1400" dirty="0"/>
              <a:t>Маржинальность, выручка, затраты на промо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93AD2A-1AA1-9448-1B60-E78B81F81031}"/>
              </a:ext>
            </a:extLst>
          </p:cNvPr>
          <p:cNvSpPr/>
          <p:nvPr/>
        </p:nvSpPr>
        <p:spPr>
          <a:xfrm>
            <a:off x="8279219" y="3532908"/>
            <a:ext cx="3074582" cy="2923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7" name="Прямоугольник 4">
            <a:extLst>
              <a:ext uri="{FF2B5EF4-FFF2-40B4-BE49-F238E27FC236}">
                <a16:creationId xmlns:a16="http://schemas.microsoft.com/office/drawing/2014/main" id="{E5939B04-DB65-F893-76CE-11B9A62A474D}"/>
              </a:ext>
            </a:extLst>
          </p:cNvPr>
          <p:cNvSpPr/>
          <p:nvPr/>
        </p:nvSpPr>
        <p:spPr>
          <a:xfrm>
            <a:off x="8279219" y="2671527"/>
            <a:ext cx="3074582" cy="854844"/>
          </a:xfrm>
          <a:prstGeom prst="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Маркетинг</a:t>
            </a:r>
            <a:r>
              <a:rPr lang="ru-RU" sz="1600" dirty="0"/>
              <a:t>:</a:t>
            </a:r>
            <a:br>
              <a:rPr lang="ru-RU" sz="1600" dirty="0"/>
            </a:br>
            <a:r>
              <a:rPr lang="ru-RU" sz="1600" dirty="0"/>
              <a:t>Какой будет эффект от акции</a:t>
            </a:r>
            <a:r>
              <a:rPr lang="en-US" sz="1600" dirty="0"/>
              <a:t>?</a:t>
            </a:r>
            <a:endParaRPr lang="ru-RU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6BFA2E-B5AF-E74B-DA05-08B49A71A284}"/>
              </a:ext>
            </a:extLst>
          </p:cNvPr>
          <p:cNvSpPr txBox="1"/>
          <p:nvPr/>
        </p:nvSpPr>
        <p:spPr>
          <a:xfrm>
            <a:off x="8279220" y="3532908"/>
            <a:ext cx="307458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Пример:</a:t>
            </a:r>
            <a:br>
              <a:rPr lang="ru-RU" sz="1400" dirty="0"/>
            </a:br>
            <a:r>
              <a:rPr lang="ru-RU" sz="1400" dirty="0"/>
              <a:t>Оценить эффект от медийной рекламы (</a:t>
            </a:r>
            <a:r>
              <a:rPr lang="en-US" sz="1400" dirty="0"/>
              <a:t>TV, </a:t>
            </a:r>
            <a:r>
              <a:rPr lang="ru-RU" sz="1400" dirty="0"/>
              <a:t>биллборды)</a:t>
            </a:r>
          </a:p>
          <a:p>
            <a:endParaRPr lang="en-US" sz="1400" dirty="0"/>
          </a:p>
          <a:p>
            <a:r>
              <a:rPr lang="ru-RU" sz="1400" b="1" dirty="0"/>
              <a:t>Риск неверных решений:</a:t>
            </a:r>
          </a:p>
          <a:p>
            <a:r>
              <a:rPr lang="ru-RU" sz="1400" dirty="0"/>
              <a:t>Рост затрат на маркетинг без достаточного роста продаж, падение </a:t>
            </a:r>
            <a:r>
              <a:rPr lang="en-US" sz="1400" dirty="0"/>
              <a:t>ROI</a:t>
            </a:r>
            <a:r>
              <a:rPr lang="ru-RU" sz="1400" dirty="0"/>
              <a:t> от маркетинга, потери в чистой прибыли</a:t>
            </a:r>
          </a:p>
          <a:p>
            <a:endParaRPr lang="ru-RU" sz="1400" dirty="0"/>
          </a:p>
          <a:p>
            <a:r>
              <a:rPr lang="ru-RU" sz="1400" b="1" dirty="0"/>
              <a:t>Бизнес метрики:</a:t>
            </a:r>
          </a:p>
          <a:p>
            <a:r>
              <a:rPr lang="en-US" sz="1400" dirty="0"/>
              <a:t>ROI </a:t>
            </a:r>
            <a:r>
              <a:rPr lang="ru-RU" sz="1400" dirty="0"/>
              <a:t>акции, выручка, затраты на рекламу</a:t>
            </a:r>
          </a:p>
        </p:txBody>
      </p:sp>
    </p:spTree>
    <p:extLst>
      <p:ext uri="{BB962C8B-B14F-4D97-AF65-F5344CB8AC3E}">
        <p14:creationId xmlns:p14="http://schemas.microsoft.com/office/powerpoint/2010/main" val="1844958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37782-1AE4-9417-AC74-C64D95776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FEA612-22F3-8416-EEE7-DE5AFA609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656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Задача</a:t>
            </a:r>
            <a:endParaRPr lang="ru-RU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C85671-D65D-FE16-10FC-C5A014821F00}"/>
              </a:ext>
            </a:extLst>
          </p:cNvPr>
          <p:cNvSpPr txBox="1"/>
          <p:nvPr/>
        </p:nvSpPr>
        <p:spPr>
          <a:xfrm>
            <a:off x="883227" y="3182129"/>
            <a:ext cx="105156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У вас есть воронка продаж и ваш руководитель хочет направить команду продаж, которая будет проталкивать клиентов по </a:t>
            </a:r>
            <a:r>
              <a:rPr lang="ru-RU" sz="2000" dirty="0" err="1"/>
              <a:t>вороке</a:t>
            </a:r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Кому нужно звонить?</a:t>
            </a:r>
          </a:p>
        </p:txBody>
      </p:sp>
    </p:spTree>
    <p:extLst>
      <p:ext uri="{BB962C8B-B14F-4D97-AF65-F5344CB8AC3E}">
        <p14:creationId xmlns:p14="http://schemas.microsoft.com/office/powerpoint/2010/main" val="1260939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703E9-0952-8703-3F0A-DA9DB0B2A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8133E2-26E3-1822-B2C6-D504D001E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656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Задача</a:t>
            </a:r>
            <a:endParaRPr lang="ru-RU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BE7824-6705-7F1F-842A-5DF5D3E7A989}"/>
              </a:ext>
            </a:extLst>
          </p:cNvPr>
          <p:cNvSpPr txBox="1"/>
          <p:nvPr/>
        </p:nvSpPr>
        <p:spPr>
          <a:xfrm>
            <a:off x="883227" y="3182129"/>
            <a:ext cx="105156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Вы работаете в Яндекс такси и вам нужно определить коэффициент повышенного спроса</a:t>
            </a:r>
          </a:p>
          <a:p>
            <a:endParaRPr lang="ru-RU" sz="2000" dirty="0"/>
          </a:p>
          <a:p>
            <a:r>
              <a:rPr lang="ru-RU" sz="2000" dirty="0"/>
              <a:t>Какое множитель спроса поставить?</a:t>
            </a:r>
          </a:p>
        </p:txBody>
      </p:sp>
    </p:spTree>
    <p:extLst>
      <p:ext uri="{BB962C8B-B14F-4D97-AF65-F5344CB8AC3E}">
        <p14:creationId xmlns:p14="http://schemas.microsoft.com/office/powerpoint/2010/main" val="4047175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6C709-8F29-08FB-B716-6F9725EAB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0EBF02-0F73-16E9-A681-C9D230D7D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Применение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ML: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Оценка рисков и предиктивное управление рисками</a:t>
            </a:r>
            <a:endParaRPr lang="ru-RU" sz="3600" b="1" dirty="0"/>
          </a:p>
        </p:txBody>
      </p:sp>
      <p:sp>
        <p:nvSpPr>
          <p:cNvPr id="3" name="Скругленный прямоугольник 3">
            <a:extLst>
              <a:ext uri="{FF2B5EF4-FFF2-40B4-BE49-F238E27FC236}">
                <a16:creationId xmlns:a16="http://schemas.microsoft.com/office/drawing/2014/main" id="{D8B4A89D-BCA1-2774-8F6B-807C7B2CF100}"/>
              </a:ext>
            </a:extLst>
          </p:cNvPr>
          <p:cNvSpPr/>
          <p:nvPr/>
        </p:nvSpPr>
        <p:spPr>
          <a:xfrm>
            <a:off x="838199" y="1597169"/>
            <a:ext cx="10515600" cy="841664"/>
          </a:xfrm>
          <a:prstGeom prst="roundRect">
            <a:avLst/>
          </a:prstGeom>
          <a:solidFill>
            <a:srgbClr val="15608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Задача: подсветить потенциальные риски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41C4F5-F638-334F-2CE9-B04EC59A21D0}"/>
              </a:ext>
            </a:extLst>
          </p:cNvPr>
          <p:cNvSpPr/>
          <p:nvPr/>
        </p:nvSpPr>
        <p:spPr>
          <a:xfrm>
            <a:off x="4558709" y="3545984"/>
            <a:ext cx="3074582" cy="2923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001456-4AE9-932E-3CB0-2EE83D29E19A}"/>
              </a:ext>
            </a:extLst>
          </p:cNvPr>
          <p:cNvSpPr/>
          <p:nvPr/>
        </p:nvSpPr>
        <p:spPr>
          <a:xfrm>
            <a:off x="838199" y="3519728"/>
            <a:ext cx="3074582" cy="2923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3" name="Прямоугольник 4">
            <a:extLst>
              <a:ext uri="{FF2B5EF4-FFF2-40B4-BE49-F238E27FC236}">
                <a16:creationId xmlns:a16="http://schemas.microsoft.com/office/drawing/2014/main" id="{B24A6A78-EECC-1A2B-C4DB-548CE99CABCF}"/>
              </a:ext>
            </a:extLst>
          </p:cNvPr>
          <p:cNvSpPr/>
          <p:nvPr/>
        </p:nvSpPr>
        <p:spPr>
          <a:xfrm>
            <a:off x="838199" y="2678065"/>
            <a:ext cx="3074582" cy="854844"/>
          </a:xfrm>
          <a:prstGeom prst="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Логистические компании: </a:t>
            </a:r>
            <a:br>
              <a:rPr lang="ru-RU" sz="1600" b="1" dirty="0"/>
            </a:br>
            <a:r>
              <a:rPr lang="ru-RU" sz="1600" dirty="0"/>
              <a:t>Как уменьшить потери от внезапных поломок?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3D6179-F65D-9EC1-3E77-39AF137118A8}"/>
              </a:ext>
            </a:extLst>
          </p:cNvPr>
          <p:cNvSpPr txBox="1"/>
          <p:nvPr/>
        </p:nvSpPr>
        <p:spPr>
          <a:xfrm>
            <a:off x="838198" y="3539446"/>
            <a:ext cx="307458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Пример:</a:t>
            </a:r>
            <a:br>
              <a:rPr lang="ru-RU" sz="1400" dirty="0"/>
            </a:br>
            <a:r>
              <a:rPr lang="ru-RU" sz="1400" dirty="0"/>
              <a:t>Прогнозирование потенциальных поломок на основании данных телеметрии автомобилей</a:t>
            </a:r>
          </a:p>
          <a:p>
            <a:endParaRPr lang="en-US" sz="1400" dirty="0"/>
          </a:p>
          <a:p>
            <a:r>
              <a:rPr lang="ru-RU" sz="1400" b="1" dirty="0"/>
              <a:t>Риск неверных решений:</a:t>
            </a:r>
          </a:p>
          <a:p>
            <a:r>
              <a:rPr lang="ru-RU" sz="1400" dirty="0"/>
              <a:t>Срывы контрактов из-за нехватки машин, повышенные расходы на избыточный ремонт</a:t>
            </a:r>
          </a:p>
          <a:p>
            <a:endParaRPr lang="ru-RU" sz="1400" dirty="0"/>
          </a:p>
          <a:p>
            <a:r>
              <a:rPr lang="ru-RU" sz="1400" b="1" dirty="0"/>
              <a:t>Бизнес метрики:</a:t>
            </a:r>
          </a:p>
          <a:p>
            <a:r>
              <a:rPr lang="ru-RU" sz="1400" dirty="0"/>
              <a:t>% автомобилей в строю, затраты на ремонт</a:t>
            </a:r>
          </a:p>
        </p:txBody>
      </p:sp>
      <p:sp>
        <p:nvSpPr>
          <p:cNvPr id="15" name="Прямоугольник 4">
            <a:extLst>
              <a:ext uri="{FF2B5EF4-FFF2-40B4-BE49-F238E27FC236}">
                <a16:creationId xmlns:a16="http://schemas.microsoft.com/office/drawing/2014/main" id="{B9ACABD8-3B86-D90E-8151-E431620DBDC2}"/>
              </a:ext>
            </a:extLst>
          </p:cNvPr>
          <p:cNvSpPr/>
          <p:nvPr/>
        </p:nvSpPr>
        <p:spPr>
          <a:xfrm>
            <a:off x="4558709" y="2684603"/>
            <a:ext cx="3074582" cy="854844"/>
          </a:xfrm>
          <a:prstGeom prst="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/>
              <a:t>Foodtech</a:t>
            </a:r>
            <a:r>
              <a:rPr lang="en-US" sz="1600" b="1" dirty="0"/>
              <a:t> </a:t>
            </a:r>
            <a:r>
              <a:rPr lang="ru-RU" sz="1600" b="1" dirty="0"/>
              <a:t>компании</a:t>
            </a:r>
            <a:r>
              <a:rPr lang="ru-RU" sz="1600" dirty="0"/>
              <a:t>:</a:t>
            </a:r>
            <a:br>
              <a:rPr lang="ru-RU" sz="1600" dirty="0"/>
            </a:br>
            <a:r>
              <a:rPr lang="ru-RU" sz="1600" dirty="0"/>
              <a:t>Как удержать клиентов?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7FB3A8-DCF8-DCFF-E0F5-B86A63DA482E}"/>
              </a:ext>
            </a:extLst>
          </p:cNvPr>
          <p:cNvSpPr txBox="1"/>
          <p:nvPr/>
        </p:nvSpPr>
        <p:spPr>
          <a:xfrm>
            <a:off x="4558710" y="3545984"/>
            <a:ext cx="307458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Пример:</a:t>
            </a:r>
            <a:br>
              <a:rPr lang="ru-RU" sz="1400" dirty="0"/>
            </a:br>
            <a:r>
              <a:rPr lang="ru-RU" sz="1400" dirty="0"/>
              <a:t>Прогнозирование потенциального </a:t>
            </a:r>
            <a:r>
              <a:rPr lang="en-US" sz="1400" dirty="0"/>
              <a:t>churn </a:t>
            </a:r>
            <a:r>
              <a:rPr lang="ru-RU" sz="1400" dirty="0"/>
              <a:t>по клиентам и выдача промо для удержания</a:t>
            </a:r>
          </a:p>
          <a:p>
            <a:endParaRPr lang="en-US" sz="1400" dirty="0"/>
          </a:p>
          <a:p>
            <a:r>
              <a:rPr lang="ru-RU" sz="1400" b="1" dirty="0"/>
              <a:t>Риск неверных решений:</a:t>
            </a:r>
          </a:p>
          <a:p>
            <a:r>
              <a:rPr lang="ru-RU" sz="1400" dirty="0"/>
              <a:t>Рост затрат на удержание без улучшения </a:t>
            </a:r>
            <a:r>
              <a:rPr lang="en-US" sz="1400" dirty="0"/>
              <a:t>retention</a:t>
            </a:r>
            <a:r>
              <a:rPr lang="ru-RU" sz="1400" dirty="0"/>
              <a:t>,</a:t>
            </a:r>
            <a:r>
              <a:rPr lang="en-US" sz="1400" dirty="0"/>
              <a:t> </a:t>
            </a:r>
            <a:r>
              <a:rPr lang="ru-RU" sz="1400" dirty="0"/>
              <a:t>отрицательный </a:t>
            </a:r>
            <a:r>
              <a:rPr lang="en-US" sz="1400" dirty="0"/>
              <a:t>ROI </a:t>
            </a:r>
            <a:r>
              <a:rPr lang="ru-RU" sz="1400" dirty="0"/>
              <a:t>от бонусов</a:t>
            </a:r>
          </a:p>
          <a:p>
            <a:endParaRPr lang="ru-RU" sz="1400" dirty="0"/>
          </a:p>
          <a:p>
            <a:r>
              <a:rPr lang="ru-RU" sz="1400" b="1" dirty="0"/>
              <a:t>Бизнес метрики:</a:t>
            </a:r>
          </a:p>
          <a:p>
            <a:r>
              <a:rPr lang="en-US" sz="1400" dirty="0"/>
              <a:t>Retention</a:t>
            </a:r>
            <a:r>
              <a:rPr lang="ru-RU" sz="1400" dirty="0"/>
              <a:t>, </a:t>
            </a:r>
            <a:r>
              <a:rPr lang="en-US" sz="1400" dirty="0"/>
              <a:t>ROI </a:t>
            </a:r>
            <a:r>
              <a:rPr lang="ru-RU" sz="1400" dirty="0"/>
              <a:t>от промо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9C49BB-433A-3F1E-4556-C3CB7A848089}"/>
              </a:ext>
            </a:extLst>
          </p:cNvPr>
          <p:cNvSpPr/>
          <p:nvPr/>
        </p:nvSpPr>
        <p:spPr>
          <a:xfrm>
            <a:off x="8279219" y="3532908"/>
            <a:ext cx="3074582" cy="2923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Прямоугольник 4">
            <a:extLst>
              <a:ext uri="{FF2B5EF4-FFF2-40B4-BE49-F238E27FC236}">
                <a16:creationId xmlns:a16="http://schemas.microsoft.com/office/drawing/2014/main" id="{3BC8B7AF-A7BE-BBB9-864E-70A26385AF1A}"/>
              </a:ext>
            </a:extLst>
          </p:cNvPr>
          <p:cNvSpPr/>
          <p:nvPr/>
        </p:nvSpPr>
        <p:spPr>
          <a:xfrm>
            <a:off x="8279219" y="2671527"/>
            <a:ext cx="3074582" cy="854844"/>
          </a:xfrm>
          <a:prstGeom prst="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Банки / страховые</a:t>
            </a:r>
            <a:r>
              <a:rPr lang="ru-RU" sz="1600" dirty="0"/>
              <a:t>:</a:t>
            </a:r>
            <a:br>
              <a:rPr lang="ru-RU" sz="1600" dirty="0"/>
            </a:br>
            <a:r>
              <a:rPr lang="ru-RU" sz="1600" dirty="0"/>
              <a:t>Какие риски по клиенту</a:t>
            </a:r>
            <a:r>
              <a:rPr lang="en-US" sz="1600" dirty="0"/>
              <a:t>?</a:t>
            </a:r>
            <a:endParaRPr lang="ru-RU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130DC5-A0E0-3DE2-36E0-4050DE7F308A}"/>
              </a:ext>
            </a:extLst>
          </p:cNvPr>
          <p:cNvSpPr txBox="1"/>
          <p:nvPr/>
        </p:nvSpPr>
        <p:spPr>
          <a:xfrm>
            <a:off x="8279220" y="3532908"/>
            <a:ext cx="307458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Пример:</a:t>
            </a:r>
            <a:br>
              <a:rPr lang="ru-RU" sz="1400" dirty="0"/>
            </a:br>
            <a:r>
              <a:rPr lang="ru-RU" sz="1400" dirty="0"/>
              <a:t>Оценить потенциальные наступления негативных событий: дефолты клиентов / выплаты по страховке</a:t>
            </a:r>
          </a:p>
          <a:p>
            <a:endParaRPr lang="en-US" sz="1400" dirty="0"/>
          </a:p>
          <a:p>
            <a:r>
              <a:rPr lang="ru-RU" sz="1400" b="1" dirty="0"/>
              <a:t>Риск неверных решений:</a:t>
            </a:r>
          </a:p>
          <a:p>
            <a:r>
              <a:rPr lang="ru-RU" sz="1400" dirty="0"/>
              <a:t>Рост риска портфеля, убыточные выдачи</a:t>
            </a:r>
          </a:p>
          <a:p>
            <a:endParaRPr lang="ru-RU" sz="1400" dirty="0"/>
          </a:p>
          <a:p>
            <a:r>
              <a:rPr lang="ru-RU" sz="1400" b="1" dirty="0"/>
              <a:t>Бизнес метрики:</a:t>
            </a:r>
          </a:p>
          <a:p>
            <a:r>
              <a:rPr lang="en-US" sz="1400" dirty="0" err="1"/>
              <a:t>CoR</a:t>
            </a:r>
            <a:r>
              <a:rPr lang="ru-RU" sz="1400" dirty="0"/>
              <a:t> (</a:t>
            </a:r>
            <a:r>
              <a:rPr lang="en-US" sz="1400" dirty="0"/>
              <a:t>cost of risk) </a:t>
            </a:r>
            <a:r>
              <a:rPr lang="ru-RU" sz="1400" dirty="0"/>
              <a:t>портфеля, доходность </a:t>
            </a:r>
            <a:r>
              <a:rPr lang="ru-RU" sz="1400" dirty="0" err="1"/>
              <a:t>потртфеля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075580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732A-8136-4A6A-FA51-658E52B41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6EEED9-F95F-1A12-3AE2-843E3EA92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656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Задача</a:t>
            </a:r>
            <a:endParaRPr lang="ru-RU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0A7D2E-69B1-2450-0082-3D98DC73CC41}"/>
              </a:ext>
            </a:extLst>
          </p:cNvPr>
          <p:cNvSpPr txBox="1"/>
          <p:nvPr/>
        </p:nvSpPr>
        <p:spPr>
          <a:xfrm>
            <a:off x="883227" y="3182129"/>
            <a:ext cx="10515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Каким клиентам выдать кредит?</a:t>
            </a:r>
          </a:p>
        </p:txBody>
      </p:sp>
    </p:spTree>
    <p:extLst>
      <p:ext uri="{BB962C8B-B14F-4D97-AF65-F5344CB8AC3E}">
        <p14:creationId xmlns:p14="http://schemas.microsoft.com/office/powerpoint/2010/main" val="2827570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8C062-ECA3-C578-ECDC-E7016CAA2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909273-66DC-5A8E-80EF-7DCF5C768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Применение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ML: </a:t>
            </a:r>
            <a:r>
              <a:rPr lang="ru-RU" sz="2800" b="1" dirty="0">
                <a:solidFill>
                  <a:prstClr val="black"/>
                </a:solidFill>
                <a:latin typeface="Arial" panose="020B0604020202020204"/>
              </a:rPr>
              <a:t>помним про суть</a:t>
            </a:r>
            <a:endParaRPr lang="ru-RU" sz="3600" b="1" dirty="0"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A50B5933-6B6F-8CBC-9E8C-0B84641C3292}"/>
              </a:ext>
            </a:extLst>
          </p:cNvPr>
          <p:cNvSpPr/>
          <p:nvPr/>
        </p:nvSpPr>
        <p:spPr>
          <a:xfrm>
            <a:off x="838200" y="1597169"/>
            <a:ext cx="10515600" cy="841664"/>
          </a:xfrm>
          <a:prstGeom prst="roundRect">
            <a:avLst/>
          </a:prstGeom>
          <a:solidFill>
            <a:srgbClr val="15608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ML – </a:t>
            </a:r>
            <a:r>
              <a:rPr lang="ru-RU" sz="2400" b="1" dirty="0">
                <a:solidFill>
                  <a:schemeClr val="bg1"/>
                </a:solidFill>
              </a:rPr>
              <a:t>это не цель, а инструмент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EA6182-635F-EDD1-5B3F-97DC04EC04FD}"/>
              </a:ext>
            </a:extLst>
          </p:cNvPr>
          <p:cNvSpPr txBox="1"/>
          <p:nvPr/>
        </p:nvSpPr>
        <p:spPr>
          <a:xfrm>
            <a:off x="838200" y="2733646"/>
            <a:ext cx="10515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ML </a:t>
            </a:r>
            <a:r>
              <a:rPr lang="ru-RU" dirty="0"/>
              <a:t>оправдан только если приводит к росту метрик, иногда неверно собранная / примененная модель может привести к значительным убыткам для компании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Иногда простая аналитика работает не хуже, чем сложная модель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Важно поставить техническое задание так, чтобы оно помогало решению бизнес задачи и не всегда это возможно. Сделать это невозможно без понимания бизнес-процесса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Супер сила </a:t>
            </a:r>
            <a:r>
              <a:rPr lang="en-US" dirty="0"/>
              <a:t>DS </a:t>
            </a:r>
            <a:r>
              <a:rPr lang="ru-RU" dirty="0"/>
              <a:t>заканчивается тогда, когда данных нет или они некачественные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Готовимся к модельным рискам</a:t>
            </a:r>
          </a:p>
        </p:txBody>
      </p:sp>
    </p:spTree>
    <p:extLst>
      <p:ext uri="{BB962C8B-B14F-4D97-AF65-F5344CB8AC3E}">
        <p14:creationId xmlns:p14="http://schemas.microsoft.com/office/powerpoint/2010/main" val="17621707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16963</TotalTime>
  <Words>1078</Words>
  <Application>Microsoft Macintosh PowerPoint</Application>
  <PresentationFormat>Widescreen</PresentationFormat>
  <Paragraphs>160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Montserrat</vt:lpstr>
      <vt:lpstr>Wingdings</vt:lpstr>
      <vt:lpstr>Тема Office</vt:lpstr>
      <vt:lpstr>Семинар 6</vt:lpstr>
      <vt:lpstr>PowerPoint Presentation</vt:lpstr>
      <vt:lpstr>Что сегодня будем делать</vt:lpstr>
      <vt:lpstr>Метрика хороша, но есть нюанс…</vt:lpstr>
      <vt:lpstr>Метрика хороша, но есть нюанс…</vt:lpstr>
      <vt:lpstr>Модельные риски</vt:lpstr>
      <vt:lpstr>Применение ML: Прогнозирование (Forecasting)</vt:lpstr>
      <vt:lpstr>Задача</vt:lpstr>
      <vt:lpstr>Применение ML: What-if сценарии</vt:lpstr>
      <vt:lpstr>Задача</vt:lpstr>
      <vt:lpstr>Задача</vt:lpstr>
      <vt:lpstr>Применение ML: Оценка рисков и предиктивное управление рисками</vt:lpstr>
      <vt:lpstr>Задача</vt:lpstr>
      <vt:lpstr>Применение ML: помним про суть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adshishov</dc:creator>
  <cp:lastModifiedBy>nalebedev</cp:lastModifiedBy>
  <cp:revision>26</cp:revision>
  <dcterms:created xsi:type="dcterms:W3CDTF">2025-11-03T12:03:48Z</dcterms:created>
  <dcterms:modified xsi:type="dcterms:W3CDTF">2026-03-18T12:15:32Z</dcterms:modified>
</cp:coreProperties>
</file>